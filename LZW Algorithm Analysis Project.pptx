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Poppins" panose="00000500000000000000" pitchFamily="50" charset="0"/>
      <p:regular r:id="rId16"/>
      <p:bold r:id="rId17"/>
      <p:italic r:id="rId18"/>
      <p:boldItalic r:id="rId19"/>
    </p:embeddedFont>
    <p:embeddedFont>
      <p:font typeface="Lato" panose="020B0604020202020204" charset="0"/>
      <p:regular r:id="rId20"/>
      <p:bold r:id="rId21"/>
      <p:italic r:id="rId22"/>
      <p:bold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913D30-DB17-412F-821C-56EC534315B5}">
  <a:tblStyle styleId="{EE913D30-DB17-412F-821C-56EC534315B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148012" y="2728019"/>
            <a:ext cx="58959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LZW Compression Visualizer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495600" y="3972707"/>
            <a:ext cx="52008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Semester: Spring 2026 | Project Presentation</a:t>
            </a:r>
            <a:endParaRPr/>
          </a:p>
        </p:txBody>
      </p:sp>
      <p:grpSp>
        <p:nvGrpSpPr>
          <p:cNvPr id="87" name="Google Shape;87;p13"/>
          <p:cNvGrpSpPr/>
          <p:nvPr/>
        </p:nvGrpSpPr>
        <p:grpSpPr>
          <a:xfrm>
            <a:off x="4038836" y="4826980"/>
            <a:ext cx="4161064" cy="762875"/>
            <a:chOff x="3982811" y="4434780"/>
            <a:chExt cx="4161064" cy="762875"/>
          </a:xfrm>
        </p:grpSpPr>
        <p:grpSp>
          <p:nvGrpSpPr>
            <p:cNvPr id="88" name="Google Shape;88;p13"/>
            <p:cNvGrpSpPr/>
            <p:nvPr/>
          </p:nvGrpSpPr>
          <p:grpSpPr>
            <a:xfrm>
              <a:off x="4048125" y="4434780"/>
              <a:ext cx="4095750" cy="762000"/>
              <a:chOff x="4048125" y="4434780"/>
              <a:chExt cx="4095750" cy="762000"/>
            </a:xfrm>
          </p:grpSpPr>
          <p:pic>
            <p:nvPicPr>
              <p:cNvPr id="89" name="Google Shape;89;p13" descr="image.png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048125" y="4434780"/>
                <a:ext cx="4095750" cy="762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" name="Google Shape;90;p13"/>
              <p:cNvSpPr txBox="1"/>
              <p:nvPr/>
            </p:nvSpPr>
            <p:spPr>
              <a:xfrm>
                <a:off x="4943475" y="4644330"/>
                <a:ext cx="876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i="0" u="none" strike="noStrike" cap="none">
                    <a:solidFill>
                      <a:srgbClr val="64748B"/>
                    </a:solidFill>
                    <a:latin typeface="Lato"/>
                    <a:ea typeface="Lato"/>
                    <a:cs typeface="Lato"/>
                    <a:sym typeface="Lato"/>
                  </a:rPr>
                  <a:t>Student:</a:t>
                </a:r>
                <a:endParaRPr/>
              </a:p>
            </p:txBody>
          </p:sp>
        </p:grpSp>
        <p:sp>
          <p:nvSpPr>
            <p:cNvPr id="91" name="Google Shape;91;p13"/>
            <p:cNvSpPr txBox="1"/>
            <p:nvPr/>
          </p:nvSpPr>
          <p:spPr>
            <a:xfrm>
              <a:off x="3982811" y="4920656"/>
              <a:ext cx="119563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 dirty="0" smtClean="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Instructor:</a:t>
              </a:r>
              <a:endParaRPr dirty="0"/>
            </a:p>
          </p:txBody>
        </p:sp>
      </p:grpSp>
      <p:sp>
        <p:nvSpPr>
          <p:cNvPr id="92" name="Google Shape;92;p13"/>
          <p:cNvSpPr txBox="1"/>
          <p:nvPr/>
        </p:nvSpPr>
        <p:spPr>
          <a:xfrm>
            <a:off x="1915477" y="1661219"/>
            <a:ext cx="836104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Analysis of Algorithms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8" name="Google Shape;98;p14"/>
          <p:cNvGraphicFramePr/>
          <p:nvPr/>
        </p:nvGraphicFramePr>
        <p:xfrm>
          <a:off x="571500" y="2787848"/>
          <a:ext cx="11049000" cy="2314600"/>
        </p:xfrm>
        <a:graphic>
          <a:graphicData uri="http://schemas.openxmlformats.org/drawingml/2006/table">
            <a:tbl>
              <a:tblPr firstRow="1" bandRow="1">
                <a:noFill/>
                <a:tableStyleId>{EE913D30-DB17-412F-821C-56EC534315B5}</a:tableStyleId>
              </a:tblPr>
              <a:tblGrid>
                <a:gridCol w="9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Bloom’s Level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Learning Outcome 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6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Understand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Understand fundamental algorithms and explain design strategies.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Implement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Implement algorithms, compare empirically, and solve real-world problems.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Analyze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Analyze time and space complexity using asymptotic notations.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9" name="Google Shape;99;p14"/>
          <p:cNvSpPr/>
          <p:nvPr/>
        </p:nvSpPr>
        <p:spPr>
          <a:xfrm>
            <a:off x="571500" y="3926085"/>
            <a:ext cx="9889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1560462" y="3926085"/>
            <a:ext cx="19057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3466207" y="3926085"/>
            <a:ext cx="81542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571500" y="4507110"/>
            <a:ext cx="9889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1560462" y="4507110"/>
            <a:ext cx="19057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3466207" y="4507110"/>
            <a:ext cx="81542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71500" y="5088135"/>
            <a:ext cx="9889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1560462" y="5088135"/>
            <a:ext cx="19057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3466207" y="5088135"/>
            <a:ext cx="81542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809625" y="571500"/>
            <a:ext cx="11351418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Course Learning Outcomes (CLO)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4488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2430660"/>
            <a:ext cx="52387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LZW (Lempel–Ziv–Welch) is a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Lossless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data compression algorithm. It reduces file sizes without losing a single bit of information.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3520231"/>
            <a:ext cx="52387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Design Strategy:</a:t>
            </a:r>
            <a:r>
              <a:rPr lang="en-US" sz="12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Dictionary-Based Greedy Approach.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4488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28675" y="3890754"/>
            <a:ext cx="1238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52500" y="3891706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Identifies repeating patterns in data.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28675" y="4184094"/>
            <a:ext cx="1238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52500" y="4185046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Replaces variable strings with short codes.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28675" y="4477434"/>
            <a:ext cx="1238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52500" y="4478387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Builds its own dictionary dynamically.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09625" y="571500"/>
            <a:ext cx="11351418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Introduction to LZW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571500" y="1944885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What is LZW Compression?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2675"/>
            <a:ext cx="3492400" cy="2994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52675"/>
            <a:ext cx="3492549" cy="2994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352675"/>
            <a:ext cx="3492400" cy="299457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904875" y="3876675"/>
            <a:ext cx="28256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Starts with a dictionary containing 256 standard ASCII characters (0-255).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4683025" y="3876675"/>
            <a:ext cx="282579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Scans input and tries to find the longest substring already in the dictionary.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461325" y="3876675"/>
            <a:ext cx="28256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When a new pattern is found, it's added to the dictionary with a new code.</a:t>
            </a:r>
            <a:endParaRPr/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27241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83025" y="27241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61325" y="27241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809625" y="571500"/>
            <a:ext cx="11351418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Basic Working Idea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904875" y="3333750"/>
            <a:ext cx="296693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Initialization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4683025" y="3333750"/>
            <a:ext cx="296708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Pattern Matching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461325" y="3333750"/>
            <a:ext cx="296693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Dynamic Growth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9223"/>
            <a:ext cx="11049000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09625" y="571500"/>
            <a:ext cx="11351418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Algorithm Pseudocode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78560"/>
            <a:ext cx="49530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71500" y="2507009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implementation uses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JavaScript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handle dynamic dictionary objects. Key features include: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28675" y="3454687"/>
            <a:ext cx="1238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952500" y="3455640"/>
            <a:ext cx="4572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Modular `lzwCompress` function.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28675" y="3748027"/>
            <a:ext cx="1238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52500" y="3748980"/>
            <a:ext cx="4572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Efficient hash-map lookups for patterns.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28675" y="4041368"/>
            <a:ext cx="1238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52500" y="4042320"/>
            <a:ext cx="4572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Real-time dictionary expansion.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1455539"/>
            <a:ext cx="5200650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Code Implementation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5" name="Google Shape;175;p19"/>
          <p:cNvGraphicFramePr/>
          <p:nvPr/>
        </p:nvGraphicFramePr>
        <p:xfrm>
          <a:off x="571500" y="2787848"/>
          <a:ext cx="11049000" cy="2314600"/>
        </p:xfrm>
        <a:graphic>
          <a:graphicData uri="http://schemas.openxmlformats.org/drawingml/2006/table">
            <a:tbl>
              <a:tblPr firstRow="1" bandRow="1">
                <a:noFill/>
                <a:tableStyleId>{EE913D30-DB17-412F-821C-56EC534315B5}</a:tableStyleId>
              </a:tblPr>
              <a:tblGrid>
                <a:gridCol w="248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Input String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Expected First Codes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Actual Output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6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ABABABA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65, 66, 128, 130...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[65, 66, 128, 130, 65]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PASSED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AAAAAAAAA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65, 128, 129...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[65, 128, 129, 130]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PASSED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ABCD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65, 66, 67, 68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[65, 66, 67, 68]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PASSED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6" name="Google Shape;176;p19"/>
          <p:cNvSpPr/>
          <p:nvPr/>
        </p:nvSpPr>
        <p:spPr>
          <a:xfrm>
            <a:off x="571500" y="3926085"/>
            <a:ext cx="2489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3060948" y="3926085"/>
            <a:ext cx="34422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6503193" y="3926085"/>
            <a:ext cx="34422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9945439" y="3926085"/>
            <a:ext cx="1675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571500" y="4507110"/>
            <a:ext cx="2489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3060948" y="4507110"/>
            <a:ext cx="34422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6503193" y="4507110"/>
            <a:ext cx="34422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9945439" y="4507110"/>
            <a:ext cx="1675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71500" y="5088135"/>
            <a:ext cx="2489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3060948" y="5088135"/>
            <a:ext cx="34422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6503193" y="5088135"/>
            <a:ext cx="34422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9945439" y="5088135"/>
            <a:ext cx="1675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809625" y="571500"/>
            <a:ext cx="11351418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Validation: Test Cases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83184"/>
            <a:ext cx="11049000" cy="293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383184"/>
            <a:ext cx="5238750" cy="293355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6715125" y="3259484"/>
            <a:ext cx="4572000" cy="146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execution time increases linearly as the input size grows. This validates the $O(n)$ time complexity. Compression ratio improves significantly on files larger than 1KB with repeating patterns.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809625" y="571500"/>
            <a:ext cx="11351418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Empirical Results (CLO 2.1)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6715125" y="2716559"/>
            <a:ext cx="48006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Observations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0676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706760"/>
            <a:ext cx="5238750" cy="4286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" name="Google Shape;208;p21"/>
          <p:cNvGrpSpPr/>
          <p:nvPr/>
        </p:nvGrpSpPr>
        <p:grpSpPr>
          <a:xfrm>
            <a:off x="6638925" y="2653637"/>
            <a:ext cx="4981725" cy="610553"/>
            <a:chOff x="6638925" y="2968912"/>
            <a:chExt cx="4981725" cy="610553"/>
          </a:xfrm>
        </p:grpSpPr>
        <p:sp>
          <p:nvSpPr>
            <p:cNvPr id="209" name="Google Shape;209;p21"/>
            <p:cNvSpPr txBox="1"/>
            <p:nvPr/>
          </p:nvSpPr>
          <p:spPr>
            <a:xfrm>
              <a:off x="6638925" y="2968912"/>
              <a:ext cx="1239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endParaRPr/>
            </a:p>
          </p:txBody>
        </p:sp>
        <p:sp>
          <p:nvSpPr>
            <p:cNvPr id="210" name="Google Shape;210;p21"/>
            <p:cNvSpPr txBox="1"/>
            <p:nvPr/>
          </p:nvSpPr>
          <p:spPr>
            <a:xfrm>
              <a:off x="6762750" y="2969865"/>
              <a:ext cx="48579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38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Linear Trend:</a:t>
              </a:r>
              <a:r>
                <a:rPr lang="en-US" sz="1650" b="0" i="0" u="none" strike="noStrike" cap="non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Time complexity remains consistent across random and pattern-heavy data.</a:t>
              </a:r>
              <a:endParaRPr/>
            </a:p>
          </p:txBody>
        </p:sp>
      </p:grpSp>
      <p:grpSp>
        <p:nvGrpSpPr>
          <p:cNvPr id="211" name="Google Shape;211;p21"/>
          <p:cNvGrpSpPr/>
          <p:nvPr/>
        </p:nvGrpSpPr>
        <p:grpSpPr>
          <a:xfrm>
            <a:off x="6638925" y="3398431"/>
            <a:ext cx="4981725" cy="610552"/>
            <a:chOff x="6638925" y="3555593"/>
            <a:chExt cx="4981725" cy="610552"/>
          </a:xfrm>
        </p:grpSpPr>
        <p:sp>
          <p:nvSpPr>
            <p:cNvPr id="212" name="Google Shape;212;p21"/>
            <p:cNvSpPr txBox="1"/>
            <p:nvPr/>
          </p:nvSpPr>
          <p:spPr>
            <a:xfrm>
              <a:off x="6638925" y="3555593"/>
              <a:ext cx="1239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•</a:t>
              </a:r>
              <a:endParaRPr/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6762750" y="3556545"/>
              <a:ext cx="48579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38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Dictionary Expansion:</a:t>
              </a:r>
              <a:r>
                <a:rPr lang="en-US" sz="1650" b="0" i="0" u="none" strike="noStrike" cap="non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Space usage grows at most O(n) beyond initial table.</a:t>
              </a:r>
              <a:endParaRPr/>
            </a:p>
          </p:txBody>
        </p:sp>
      </p:grpSp>
      <p:sp>
        <p:nvSpPr>
          <p:cNvPr id="214" name="Google Shape;214;p21"/>
          <p:cNvSpPr txBox="1"/>
          <p:nvPr/>
        </p:nvSpPr>
        <p:spPr>
          <a:xfrm>
            <a:off x="6638925" y="4142273"/>
            <a:ext cx="1238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762750" y="4143226"/>
            <a:ext cx="4857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Peak Performance: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Best observed during character repetition (Ratio &gt; 70%).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809625" y="571500"/>
            <a:ext cx="11351418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Performance &amp; Growth Trend</a:t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34592"/>
            <a:ext cx="154364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934592"/>
            <a:ext cx="1934467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" y="3172717"/>
            <a:ext cx="106739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828675" y="3905190"/>
            <a:ext cx="1238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952500" y="390614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Worst Case: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$O(n)$ - Scans all $n$ chars.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828675" y="4198530"/>
            <a:ext cx="1238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952500" y="4199483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Best Case: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$\Omega(n)$ - Matches existing patterns.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828625" y="4880795"/>
            <a:ext cx="123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965838" y="4880798"/>
            <a:ext cx="4857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Justification: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Each char is visited once; Map operations are O(1)</a:t>
            </a:r>
            <a:r>
              <a:rPr lang="en-US" sz="16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232" name="Google Shape;23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9875" y="3172717"/>
            <a:ext cx="145821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6638925" y="3905190"/>
            <a:ext cx="1238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762750" y="3906142"/>
            <a:ext cx="4857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Dictionary: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Grows linearly with n.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6638925" y="4198530"/>
            <a:ext cx="1238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6762750" y="4199483"/>
            <a:ext cx="4857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Total Space: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Bounded by input size + initial ASCII table.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809625" y="571500"/>
            <a:ext cx="113514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Complexity Analysis (CLO 3.1)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571500" y="246786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Time Complexity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6381750" y="246786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Space Complexity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4488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/>
          <p:nvPr/>
        </p:nvSpPr>
        <p:spPr>
          <a:xfrm>
            <a:off x="571500" y="3548806"/>
            <a:ext cx="52387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571500" y="3739306"/>
            <a:ext cx="52387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Trade-offs: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High Speed vs Memory. LZW is faster than Huffman but needs more memory for the dictionary.</a:t>
            </a:r>
            <a:endParaRPr/>
          </a:p>
        </p:txBody>
      </p:sp>
      <p:pic>
        <p:nvPicPr>
          <p:cNvPr id="249" name="Google Shape;24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4488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571500" y="2097285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PDF Files: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Standard stream compression.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571500" y="2581126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GIF Format: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Compressing pixel color data.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571500" y="3064966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Unix Compress: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System-level file reduction.</a:t>
            </a:r>
            <a:endParaRPr/>
          </a:p>
        </p:txBody>
      </p:sp>
      <p:pic>
        <p:nvPicPr>
          <p:cNvPr id="253" name="Google Shape;25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13062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61446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098303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809625" y="571500"/>
            <a:ext cx="11351418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Real-World Applications</a:t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24312"/>
            <a:ext cx="1104900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2286000" y="2744241"/>
            <a:ext cx="76200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LZW is a highly efficient, single-pass algorithm ideal for repetitive data. This project successfully mapped the algorithm's greedy strategy to measurable execution metrics and complexity bounds.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3852862" y="4891087"/>
            <a:ext cx="44862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References: Welch, T. A. (1984). High-performance data compression.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1412081" y="4233862"/>
            <a:ext cx="38290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GitHub:</a:t>
            </a: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github.com/hamzabashir7786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6922293" y="4233862"/>
            <a:ext cx="3857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LinkedIn:</a:t>
            </a: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linkedin.com/in/hamzabashir7786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4330779" y="1601241"/>
            <a:ext cx="353044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/>
          <p:nvPr/>
        </p:nvSpPr>
        <p:spPr>
          <a:xfrm>
            <a:off x="571500" y="2246114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71500" y="3017639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571500" y="3920281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571500" y="300811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571500" y="300811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571500" y="391075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571500" y="391075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571500" y="468228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571500" y="468228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8898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1666875" y="2409973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https://static.vecteezy.com/system/resources/previews/003/809/954/non_2x/digital-binary-code-data-background-computer-numbers-technological-concept-vector.jpg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1666875" y="2630834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id="286" name="Google Shape;286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259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1666875" y="3160514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https://static.vecteezy.com/system/resources/previews/066/330/747/non_2x/programming-code-executing-software-ui-on-computer-display-in-apartment-office-close-up-shot-of-coding-application-on-pc-screen-used-to-write-and-test-code-in-modern-living-room-photo.jpg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1666875" y="355461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id="289" name="Google Shape;289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6315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/>
          <p:nvPr/>
        </p:nvSpPr>
        <p:spPr>
          <a:xfrm>
            <a:off x="1666875" y="4084141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https://365datascience.com/resources/blog/thumb@1024_2018-07-1-Bad-chart-example.webp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1666875" y="4305002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365datascience.com</a:t>
            </a:r>
            <a:endParaRPr/>
          </a:p>
        </p:txBody>
      </p:sp>
      <p:pic>
        <p:nvPicPr>
          <p:cNvPr id="292" name="Google Shape;292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3468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5"/>
          <p:cNvSpPr txBox="1"/>
          <p:nvPr/>
        </p:nvSpPr>
        <p:spPr>
          <a:xfrm>
            <a:off x="1666875" y="4855666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https://www.coolutils.com/blog/wp-content/uploads/2025/08/unnamed.jpg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1666875" y="5076527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www.coolutils.com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809625" y="571500"/>
            <a:ext cx="11351418" cy="4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96" name="Google Shape;296;p25"/>
          <p:cNvSpPr/>
          <p:nvPr/>
        </p:nvSpPr>
        <p:spPr>
          <a:xfrm>
            <a:off x="571500" y="571500"/>
            <a:ext cx="76200" cy="460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</Words>
  <Application>Microsoft Office PowerPoint</Application>
  <PresentationFormat>Widescreen</PresentationFormat>
  <Paragraphs>103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Poppins</vt:lpstr>
      <vt:lpstr>Lato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Muhammad Hamza Bashir</cp:lastModifiedBy>
  <cp:revision>1</cp:revision>
  <dcterms:modified xsi:type="dcterms:W3CDTF">2026-05-03T20:20:24Z</dcterms:modified>
</cp:coreProperties>
</file>